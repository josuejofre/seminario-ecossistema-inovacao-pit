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Sejam muito bem-vindos, caros colegas, professora Iraci e professor Yukio. Nosso Grupo 5 tem a honra de apresentar o Seminário 5 sobre Ecossistemas de Inovação. Vamos conectar a teoria mais recente da literatura internacional com o nosso laboratório vivo: o Parque Tecnológico de São José dos Campos. Convidamos todos a abrirem o celular e acessarem o jogo pelo QR Code ou link, pois ao final de cada bloco teremos uma fase do nosso Kahoot RPG!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Nossa apresentação está estruturada em 120 minutos, dividida em 6 blocos fundamentais. Passaremos pela biologia de Moore, as 5 hélices, a orquestração de Machado et al., o benchmarking internacional de San Diego e a atividade empírica de campo no PIT SJC conduzida pelo Renato. Ao final de cada bloco, teremos a parada estratégica para o Kahoot RPG!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não falarmos de inovação no vácuo, ancoramos nosso estudo no ecossistema onde estamos inseridos: o PIT São José dos Campos. Criado em 2006, é o primeiro parque oficial de SP, abriga mais de 300 empresas e possui o Campus da UNIFESP como coração acadêmico. É o laboratório perfeito para testarmos cada conceito teórico deste seminário.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Iniciando o Bloco 1, James Moore em 1993 publicou na Harvard Business Review o artigo seminal que mudou a administração estratégica. Ele percebeu que as empresas não competem mais como ilhas isoladas. A competição agora é entre ecossistemas completos que coevoluem e cooperam na base enquanto competem pelo mercado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Shen et al., em seu estudo recente de 2025/2026, analisaram a produção científica de três décadas. Eles mostram claramente que os ecossistemas deixaram de ser vistos como plataformas proprietárias de Big Techs e passaram a ser estudados sob a ótica de redes territoriais complexas, focadas em sustentabilidade e governança participativa.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crucial não confundir os conceitos: Cluster é concentração geográfica por custo logístico; Sistema de Inovação foca no papel indutor do Estado; Ecossistema de Negócios captura valor presente; e Ecossistema de Inovação foca na co-criação de novas tecnologias que ninguém criaria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[APRESENTADOR: Ao projetar este slide, anuncie ao microfone com entusiasmo: 'Atenção turma, fase liberada no seu celular! Vocês têm 2 minutos para responder às 3 perguntas da estação Bloco Acadêmico UNIFESP no mapa!'] Acompanhem aqui no telão o ranking em tempo real da turma enquanto os colegas pontuam!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cerca de 4 minutos.</a:t>
            </a:r>
          </a:p>
          <a:p>
            <a:r>
              <a:t>FALA SUGERIDA:</a:t>
            </a:r>
          </a:p>
          <a:p>
            <a:r>
              <a:t>"Entrando no Bloco 2, respondemos à pergunta norteadora central: quem compõe a anatomia do ecossistema e o que cada um traz para a mesa? A literatura deixa claro que um ecossistema não é um grupo homogêneo. Ele reúne atores com independência hierárquica e lógicas distintas:</a:t>
            </a:r>
          </a:p>
          <a:p>
            <a:r>
              <a:t>• A Academia (UNIFESP, ITA, INPE) aporta o capital intelectual e a pesquisa de longo prazo;</a:t>
            </a:r>
          </a:p>
          <a:p>
            <a:r>
              <a:t>• As Empresas e Deep Techs aportam a tração de mercado e capacidade de escala;</a:t>
            </a:r>
          </a:p>
          <a:p>
            <a:r>
              <a:t>• O Governo e os Investidores (Anjos e VCs) aportam fomento, legislação e o capital de risco indispensável;</a:t>
            </a:r>
          </a:p>
          <a:p>
            <a:r>
              <a:t>• E os Intermediários — como o PIT SJC — aportam a orquestração e as pontes de confiança que conectam essas pontas.</a:t>
            </a:r>
          </a:p>
          <a:p>
            <a:r>
              <a:t>O papel do ecossistema é construir uma simbiose produtiva entre essas forças."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cerca de 4 minutos.</a:t>
            </a:r>
          </a:p>
          <a:p>
            <a:r>
              <a:t>FALA SUGERIDA:</a:t>
            </a:r>
          </a:p>
          <a:p>
            <a:r>
              <a:t>"A teoria das hélices evoluiu para refletir a complexidade do mundo atual. A Tríplice Hélice clássica, reunindo Universidade, Empresa e Governo, foi o motor industrial do século passado. Contudo, o conceito moderno exige avançar para a Quádrupla e a Quíntupla Hélice.</a:t>
            </a:r>
          </a:p>
          <a:p>
            <a:r>
              <a:t>A 4ª Hélice insere a Sociedade Civil organizada, os cidadãos e os usuários finais. Nela, o valor é co-criado a partir de demandas sociais reais e validado em ambientes do território, como nos Living Labs do PIT SJC.</a:t>
            </a:r>
          </a:p>
          <a:p>
            <a:r>
              <a:t>Já a 5ª Hélice incorpora o Meio Ambiente e o desenvolvimento sustentável. Em um ecossistema maduro, a inovação não busca apenas retorno financeiro, mas também a neutralidade de carbono e a preservação ecológica (Net-Zero). Assim, o ecossistema atinge sua maturidade ao gerar impacto econômico, social e ambiental de forma integrada."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cerca de 4 minutos.</a:t>
            </a:r>
          </a:p>
          <a:p>
            <a:r>
              <a:t>FALA SUGERIDA:</a:t>
            </a:r>
          </a:p>
          <a:p>
            <a:r>
              <a:t>"O que diferencia, fundamentalmente, um ecossistema de uma simples cadeia de suprimentos ou rede de parceiros?</a:t>
            </a:r>
          </a:p>
          <a:p>
            <a:r>
              <a:t>Numa cadeia de suprimentos, as relações são lineares, contratuais e focadas em transações diretas de compra e venda.</a:t>
            </a:r>
          </a:p>
          <a:p>
            <a:r>
              <a:t>No ecossistema, os atores são hierarquicamente independentes. Eles atuam em coopetição, colaborando para criar o mercado e competindo dentro dele. As trocas não são meramente contratuais; os atores alinham esforços em torno de uma proposta de valor conjunta emergente.</a:t>
            </a:r>
          </a:p>
          <a:p>
            <a:r>
              <a:t>Como ensina Ron Adner, essa interdependência gera três riscos interligados: o risco de execução interna, o risco de coinovação dos parceiros e o risco de adoção pelos canais regulatórios. Se você desenvolve uma aeronave elétrica (eVTOL), mas o parceiro não entrega a bateria ou a ANAC não homologa a rota, todo o ecossistema falha. O PIT SJC atua exatamente para mitigar esses riscos de transação."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cerca de 3 minutos.</a:t>
            </a:r>
          </a:p>
          <a:p>
            <a:r>
              <a:t>FALA SUGERIDA:</a:t>
            </a:r>
          </a:p>
          <a:p>
            <a:r>
              <a:t>"[O APRESENTADOR ACIONA O COCKPIT ADMIN OU O BOTÃO DA TELA E ANUNCIA AO MICROFONE:]</a:t>
            </a:r>
          </a:p>
          <a:p>
            <a:r>
              <a:t>'Atenção turma, o desafio está pronto no seu celular! Caminhem no mapa até a Praça Central das Hélices e respondam às 3 perguntas sobre a anatomia do ecossistema e as 5 hélices!</a:t>
            </a:r>
          </a:p>
          <a:p>
            <a:r>
              <a:t>Vejam no telão: a tabela de classificação já está computando os pontos da Fase 2! Quem dominar os conceitos de Ron Adner, simbiose acadêmica-industrial e riscos de co-inovação vai disparar na pontuação. Vocês têm 2 minutos!'"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cerca de 1 minuto.</a:t>
            </a:r>
          </a:p>
          <a:p>
            <a:r>
              <a:t>1) Ler a questão do bloco em voz alta: Como coordenar atores independentes, e quais mecanismos e competências permitem a orquestração do ecossistema?</a:t>
            </a:r>
          </a:p>
          <a:p>
            <a:r>
              <a:t>2) Apresentar o percurso em três camadas: QUEM orquestra (o papel do orquestrador), COMO se orquestra (os mecanismos: definição de agenda, mobilização, estabilização da rede, compartilhamento de conhecimento, coordenação e comunicação) e COM O QUÊ (as competências de orquestração).</a:t>
            </a:r>
          </a:p>
          <a:p>
            <a:r>
              <a:t>3) Situar o artigo: Machado, Faccin e Bittencourt (2025) realizaram uma revisão sistemática da literatura, seguindo Tranfield, Denyer e Smart (2003), nas bases Scopus e Web of Science, de 2006 a julho de 2024, tendo Dhanaraj e Parkhe (2006) como marco teórico. Foram 670 artigos encontrados, 120 após retirar duplicados e 10 estudos incluídos, complementados por artigos seminais, livros e referências citadas.</a:t>
            </a:r>
          </a:p>
          <a:p>
            <a:r>
              <a:t>4) Destacar a escolha conceitual dos autores: capacidade, competência e habilidade referem-se ao indivíduo; capability, à organização.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cerca de 1 minuto e 30 segundos.</a:t>
            </a:r>
          </a:p>
          <a:p>
            <a:r>
              <a:t>1) O PROBLEMA: ecossistemas de inovação são comunidades de participantes heterogêneos e interdependentes, mas hierarquicamente independentes, que geram coletivamente uma proposta de valor (Thomas e Ritala, 2021), articulados pela quádrupla hélice: governo, universidades, empresas e sociedade civil (Carayannis e Campbell, 2009). Eles dependem uns dos outros, mas ninguém responde a ninguém.</a:t>
            </a:r>
          </a:p>
          <a:p>
            <a:r>
              <a:t>2) A RESPOSTA: a orquestração. Para Dhanaraj e Parkhe (2006), orquestrar é um conjunto de atividades para desenvolver, gerenciar e coordenar a rede, criando e extraindo valor sem o benefício da autoridade hierárquica.</a:t>
            </a:r>
          </a:p>
          <a:p>
            <a:r>
              <a:t>3) O ORQUESTRADOR: é quem conduz essas atividades. O papel que ele assume depende de COMO conduz as atividades, por exemplo exercendo mais ou menos poder (Pikkarainen et al., 2017). O artigo consolida 13 papéis, como arquiteto, gatekeeper, juiz, coordenador, líder e comunicador. Um mesmo orquestrador pode assumir vários papéis, que mudam ao longo do tempo (Nilsen e Gausdal, 2017), e múltiplos orquestradores tendem a gerar mais valor (Hurmelinna-Laukkanen e Nätti, 2018). Vamos ver esses papéis em ação nos mecanismos.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cerca de 1 minuto.</a:t>
            </a:r>
          </a:p>
          <a:p>
            <a:r>
              <a:t>O artigo organiza a orquestração em dimensões, que foram se acumulando na literatura. Dhanaraj e Parkhe (2006) propõem três: mobilidade do conhecimento, apropriabilidade da inovação e estabilidade da rede. Hurmelinna-Laukkanen, Möller e Nätti (2011) ampliam para seis: definição de agenda, mobilização, estabilização da rede, criação e transferência de conhecimento, apropriabilidade e coordenação. Da Silva e Bitencourt (2019) acrescentam a cocriação e Mignoni et al. (2021) a gestão da comunicação, totalizando oito. Neste bloco vamos aprofundar seis delas, em destaque; apropriabilidade e cocriação completam o quadro, mas ficam fora do foco.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cerca de 2 minutos.</a:t>
            </a:r>
          </a:p>
          <a:p>
            <a:r>
              <a:t>Os três primeiros mecanismos respondem a como juntar atores que não respondem uns aos outros.</a:t>
            </a:r>
          </a:p>
          <a:p>
            <a:r>
              <a:t>DEFINIÇÃO DE AGENDA: criar e comunicar uma agenda que direcione os membros do ecossistema; atrai pessoas para as atividades e influencia a mobilização. Na prática, o arquiteto identifica oportunidades e define metas, e o leiloeiro propõe uma agenda que introduz uma visão conjunta.</a:t>
            </a:r>
          </a:p>
          <a:p>
            <a:r>
              <a:t>MOBILIZAÇÃO: atrair e selecionar parceiros para o ecossistema, incluindo os motivadores para participar. O arquiteto seleciona os membros; o leiloeiro cria a visão conjunta e a promove.</a:t>
            </a:r>
          </a:p>
          <a:p>
            <a:r>
              <a:t>ESTABILIZAÇÃO DA REDE: manter a colaboração entre os membros, envolvendo cultura, formação de identidade, valores e crenças, e evitando individualismo, oportunismo, isolamento, migração, conluio e atrito. O coordenador administra as interações para fortalecer os laços; o líder motiva e fomenta a colaboração espontânea e gerencia as interações com visão de longo prazo. (Tabelas 1 e 2 do artigo.)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cerca de 2 minutos.</a:t>
            </a:r>
          </a:p>
          <a:p>
            <a:r>
              <a:t>Os outros três mecanismos fazem o ecossistema funcionar no dia a dia.</a:t>
            </a:r>
          </a:p>
          <a:p>
            <a:r>
              <a:t>COMPARTILHAMENTO DE CONHECIMENTO (criação e transferência de conhecimento): compartilhar, adquirir e implementar conhecimento dentro do ecossistema. O gatekeeper extrai conhecimento de fora da rede e o dissemina entre os membros; o representante compartilha conhecimento da rede com atores externos, fornecendo e filtrando informação; o regente adquire e transforma informação para fortalecer as competências dos atores.</a:t>
            </a:r>
          </a:p>
          <a:p>
            <a:r>
              <a:t>COORDENAÇÃO: dirigir o planejamento e monitorar a execução, criando mecanismos que conduzem o processo de inovação e orientam os atores ao mesmo objetivo. O arquiteto acompanha planos e execução, o regente aloca tarefas, o juiz monitora e adapta padrões de desempenho e o líder esclarece os papéis dos membros.</a:t>
            </a:r>
          </a:p>
          <a:p>
            <a:r>
              <a:t>COMUNICAÇÃO (gestão da comunicação, Mignoni et al., 2021): conduzir a comunicação, divulgar as ações e os projetos institucionais ao público e engajá-lo; é o papel do comunicador.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cerca de 1 minuto e 45 segundos.</a:t>
            </a:r>
          </a:p>
          <a:p>
            <a:r>
              <a:t>Esta é a contribuição central do artigo.</a:t>
            </a:r>
          </a:p>
          <a:p>
            <a:r>
              <a:t>1) A LACUNA: a literatura avançou das dimensões da orquestração (Dhanaraj e Parkhe, 2006) para os papéis e atividades do orquestrador (Pikkarainen et al., 2017; Hurmelinna-Laukkanen e Nätti, 2018). Os autores argumentam que o próximo passo é entender a competência do indivíduo que orquestra.</a:t>
            </a:r>
          </a:p>
          <a:p>
            <a:r>
              <a:t>2) A BASE TEÓRICA: em Ruas (2005), capacidade é potencial; ela só assume a condição de competência quando é mobilizada numa ação específica. Le Boterf (2003) organiza a competência em saber (conhecimentos), saber fazer (habilidades) e saber ser (atitudes). Antonello (2011) completa: competência é mobilizar conhecimentos, habilidades e atitudes diante da situação, do contexto e da cultura. Não se trata de pessoas competentes, mas de ações competentes.</a:t>
            </a:r>
          </a:p>
          <a:p>
            <a:r>
              <a:t>3) O AVANÇO SOBRE A LITERATURA: Ritala et al. (2009) listavam habilidades do orquestrador, como comunicação, influência, empreendedorismo, gestão de projetos e visão sistêmica, mas, segundo os autores, sem o componente das atitudes.</a:t>
            </a:r>
          </a:p>
          <a:p>
            <a:r>
              <a:t>4) A DEFINIÇÃO PROPOSTA: competência de orquestração é a combinação de conhecimentos, habilidades e atitudes que, mobilizada pelo orquestrador para desenvolver, gerenciar e coordenar o ecossistema, permite a interação colaborativa, interdependente e cocriativa entre os atores.</a:t>
            </a:r>
          </a:p>
          <a:p>
            <a:r>
              <a:t>5) O MODELO: cruzando dimensões, papéis e atividades, os autores chegam a 33 atributos dessa competência (Figura 1), como gerar confiança, alinhar interesses e visão sistêmica.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cerca de 45 segundos.</a:t>
            </a:r>
          </a:p>
          <a:p>
            <a:r>
              <a:t>1) RESPOSTA À QUESTÃO: atores independentes se coordenam por meio de um orquestrador que atua por influência e alinhamento, sem autoridade hierárquica; os mecanismos são a definição de agenda, a mobilização, a estabilização da rede, o compartilhamento de conhecimento, a coordenação e a comunicação, exercidos por diferentes papéis; e o que viabiliza tudo isso é a competência de orquestração, a mobilização de conhecimentos, habilidades e atitudes em contexto.</a:t>
            </a:r>
          </a:p>
          <a:p>
            <a:r>
              <a:t>2) LIMITES: o modelo se apoia em 10 estudos incluídos na revisão sistemática e é derivado teoricamente, ainda sem teste com orquestradores reais; além disso, não fica explícito como cada um dos 33 atributos foi derivado.</a:t>
            </a:r>
          </a:p>
          <a:p>
            <a:r>
              <a:t>3) AGENDA PROPOSTA PELOS AUTORES: entrevistas com orquestradores para validar e identificar novos atributos, e um artefato de formação para desenvolver a competência.</a:t>
            </a:r>
          </a:p>
          <a:p>
            <a:r>
              <a:t>4) FECHAMENTO: ecossistema não se comanda, se orquestra.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[APRESENTADOR: Ao projetar este slide, anuncie ao microfone: 'Atenção turma, fase liberada no celular! Desafio no Centro de Governança do PIT liberado! Vocês têm 2 minutos!'] Olhem como a disputa pelos primeiros lugares está acirrada!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Furr &amp; Shipilov, pesquisadores do MIT, alertam para o maior erro dos gestores: a ilusão imperial de controle. Criar ecossistemas bem-sucedidos exige começar pequeno, com uma proposta de valor mínima compartilhada e adaptabilidade orgânica.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Nexus Hub personifica essa liderança adaptativa no PIT SJC. Ele não é uma simples incubadora de coworking: é um catalisador de deep techs que oferece laboratórios pesados de prototipagem, mentoria sênior e acesso facilitado aos editais PIPE-FAPESP e Finep.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Liderar sem autoridade hierárquica é uma das habilidades mais difíceis da gestão moderna. Um exemplo claro foi a pandemia: em poucos dias, o PIT orquestrou universidades e indústrias para desenvolver ventiladores pulmonares e máscaras em tempo recorde.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[APRESENTADOR: Ao projetar este slide, anuncie ao microfone: 'Atenção turma, fase liberada no celular! Estação Nexus Hub de Startups ativa no mapa! Respondam com atenção ao cronômetro!'] Vamos ver quem assumirá a liderança nesta rodada!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cerca de 1 minuto e meio.</a:t>
            </a:r>
          </a:p>
          <a:p>
            <a:r>
              <a:t>FALA SUGERIDA (LILIAN VEIGA VINHAS):</a:t>
            </a:r>
          </a:p>
          <a:p>
            <a:r>
              <a:t>"O principal artigo do nosso bloco tratou do surgimento e dos fatores de sucesso do ecossistema de inovação de San Diego, na Califórnia, conduzido pelos pesquisadores Jukka Majava e Satu Rinkinen (revisão sistemática de 20 anos de estudos entre 2001 e 2021, complementados por entrevistas com especialistas).</a:t>
            </a:r>
          </a:p>
          <a:p>
            <a:r>
              <a:t>Para termos dimensão do impacto, trago os dados oficiais da Organização Mundial da Propriedade Intelectual (WIPO / ONU) no Global Innovation Index 2025. San Diego ocupa o 14º lugar no ranking dos 100 maiores clusters mundiais de inovação (e o 7º lugar mundial por intensidade relativa à densidade populacional).</a:t>
            </a:r>
          </a:p>
          <a:p>
            <a:r>
              <a:t>Entre 2020 e 2024, foram nada menos que 26.713 pedidos de patente PCT na cidade, com destaque absoluto para a Qualcomm (líder global de processadores móveis, semicondutores, 4G, 5G e Wi-Fi), que responde sozinha por 64% das patentes. Na produção científica, a UCSD lidera com quase 12 mil artigos (59% da cidade). No Brasil, apenas a região metropolitana de São Paulo figura entre os 100 clusters da WIPO. Além da Qualcomm, centros de P&amp;D de gigantes farmacêuticas mundiais operam na cidade, como Eli Lilly, Pfizer, Janssen e a Illumina, líder global de sequenciamento genético."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cerca de 1 minuto e 45 segundos.</a:t>
            </a:r>
          </a:p>
          <a:p>
            <a:r>
              <a:t>FALA SUGERIDA (LILIAN VEIGA VINHAS):</a:t>
            </a:r>
          </a:p>
          <a:p>
            <a:r>
              <a:t>"Por que estudar San Diego? Porque muitos países e regiões tentam copiar o Vale do Silício sem sucesso. San Diego é um caso fascinante porque era uma cidade periférica, considerada pequena e isolada no extremo sul da Califórnia, e que a partir dos anos 90 tornou-se polo global em biotecnologia e telecomunicações sem fio.</a:t>
            </a:r>
          </a:p>
          <a:p>
            <a:r>
              <a:t>Majava &amp; Rinkinen definem ecossistema de inovação como um conjunto dinâmico e em evolução de atores, instituições, atividades e relações complementares que impulsionam o desempenho inovador.</a:t>
            </a:r>
          </a:p>
          <a:p>
            <a:r>
              <a:t>E os autores identificam 6 pontos-chave estruturantes na trajetória de San Diego:</a:t>
            </a:r>
          </a:p>
          <a:p>
            <a:r>
              <a:t>1º Ponto: A fundação da UCSD nos anos 60 com excelência em biologia e ciências naturais, recrutando mentes brilhantes que atraíram capital de risco e multinacionais.</a:t>
            </a:r>
          </a:p>
          <a:p>
            <a:r>
              <a:t>2º Ponto: Vocação histórica prévia em hospitais e clínicas; e um isolamento geográfico que dificultava indústrias manufatureiras e pesadas.</a:t>
            </a:r>
          </a:p>
          <a:p>
            <a:r>
              <a:t>3º Ponto: Decisões políticas deliberadas de zoneamento urbano nos anos 70 reservando áreas para ciências da vida próximas à universidade.</a:t>
            </a:r>
          </a:p>
          <a:p>
            <a:r>
              <a:t>4º Ponto: Contingências que forçam ação: a cidade tinha base militar forte, mas com o término da Guerra Fria nos anos 80, o desemprego bélico aumentou, forçando a reconversão econômica.</a:t>
            </a:r>
          </a:p>
          <a:p>
            <a:r>
              <a:t>5º Ponto: Criação de instituição mediadora: em 1985 nasce a CONNECT dentro da UCSD para acelerar empresas e construir confiança entre as partes.</a:t>
            </a:r>
          </a:p>
          <a:p>
            <a:r>
              <a:t>6º Ponto: Proximidade geográfica dos atores: distâncias curtas facilitaram a colaboração e parcerias diárias."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cerca de 1 minuto e 45 segundos.</a:t>
            </a:r>
          </a:p>
          <a:p>
            <a:r>
              <a:t>FALA SUGERIDA (LILIAN VEIGA VINHAS):</a:t>
            </a:r>
          </a:p>
          <a:p>
            <a:r>
              <a:t>"O grande diferencial de San Diego foi a CONNECT, criada em 1985.</a:t>
            </a:r>
          </a:p>
          <a:p>
            <a:r>
              <a:t>Ela não nasceu de cima para baixo por decreto governamental, mas de baixo para cima (bottom-up), numa união da universidade UCSD com lideranças privadas e cientistas para salvar a economia da cidade pós-crise militar.</a:t>
            </a:r>
          </a:p>
          <a:p>
            <a:r>
              <a:t>A CONNECT atuou como uma verdadeira aceleradora através do seu consagrado Programa Springboard. Como funcionava? Os cientistas passavam por sabatinas com advogados de patentes, executivos e investidores, que lapidavam o plano de negócios e preparavam a startup para receber investimento institucional.</a:t>
            </a:r>
          </a:p>
          <a:p>
            <a:r>
              <a:t>Ela cumpriu o papel crucial de reduzir a assimetria entre as ideias dos cientistas e as regras dos negócios, instaurando a cultura de doação de tempo (give-first) e mentoria voluntária.</a:t>
            </a:r>
          </a:p>
          <a:p>
            <a:r>
              <a:t>Atores que compuseram a rede: UCSD, institutos Scripps e Salk, aceleradoras, incubadoras, investidores-anjo, venture capital, prestadores de serviços jurídicos e financeiros, e empresas pioneiras como Hybritech e Linkabit/Qualcomm, que serviram como raízes de árvores genealógicas para novas startups."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cerca de 1 minuto e 45 segundos.</a:t>
            </a:r>
          </a:p>
          <a:p>
            <a:r>
              <a:t>FALA SUGERIDA (LILIAN VEIGA VINHAS):</a:t>
            </a:r>
          </a:p>
          <a:p>
            <a:r>
              <a:t>"Para sistematizar as lições de San Diego, o artigo utilizou uma Análise PEST (Político, Econômico, Social e Tecnológico) — método que também utilizamos na disciplina com o professor Yukio:</a:t>
            </a:r>
          </a:p>
          <a:p>
            <a:r>
              <a:t>No pilar Político (P): zoneamento urbano estratégico e programas federais contínuos de fomento como o SBIR/STTR e fundos do NIH.</a:t>
            </a:r>
          </a:p>
          <a:p>
            <a:r>
              <a:t>No pilar Econômico (E): farta oferta de Venture Capital especializado, e um ciclo virtuoso onde aquisições por grandes farmacêuticas e IPOs na NASDAQ reinjetavam capital reciclado nos empreendedores locais.</a:t>
            </a:r>
          </a:p>
          <a:p>
            <a:r>
              <a:t>No pilar Social e Cultural (S): cultura sem aversão ao risco, e altíssima mobilidade interempresarial de executivos, fazendo a expertise circular pelo ecossistema.</a:t>
            </a:r>
          </a:p>
          <a:p>
            <a:r>
              <a:t>No pilar Tecnológico (T): a excelência da pesquisa da UCSD e o transbordamento das empresas pioneiras.</a:t>
            </a:r>
          </a:p>
          <a:p>
            <a:r>
              <a:t>Como frase síntese do radar: a concentração simultânea de ideias (ciência básica) e capital viabilizou o milagre da Biotecnologia.</a:t>
            </a:r>
          </a:p>
          <a:p>
            <a:r>
              <a:t>Mas o artigo traz também os contrapontos e efeitos colaterais com honestidade acadêmica: a alta tecnologia gerou expansão urbana descontrolada, congestionamentos viários, gentrificação e escassez de moradia acessível para profissionais de média e baixa qualificação."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cerca de 1 minuto e 45 segundos.</a:t>
            </a:r>
          </a:p>
          <a:p>
            <a:r>
              <a:t>FALA SUGERIDA (LILIAN VEIGA VINHAS):</a:t>
            </a:r>
          </a:p>
          <a:p>
            <a:r>
              <a:t>"Fazendo agora a ponte com o nosso ecossistema em São José dos Campos: como nasceu a nossa vocação tecnológica?</a:t>
            </a:r>
          </a:p>
          <a:p>
            <a:r>
              <a:t>A trajetória de SJC tem raízes no início da década de 50. A cidade reuniu atributos geográficos privilegiados: localização estratégica no eixo Rio-SP pela recém-inaugurada Via Dutra, abundância de recursos hídricos, energia elétrica e relevo plano.</a:t>
            </a:r>
          </a:p>
          <a:p>
            <a:r>
              <a:t>Mas a grande virada veio com o Planejamento de Estado. O governo federal decidiu instalar o Centro Técnico de Aeronáutica (CTA) e o Instituto Tecnológico de Aeronáutica (ITA), estruturado a partir da experiência do MIT norte-americano, seguido pelo INPE em 1961.</a:t>
            </a:r>
          </a:p>
          <a:p>
            <a:r>
              <a:t>Um ponto essencial: no Brasil dos anos 50 e 60 não existia a figura do Venture Capital. O que financiou a inovação brasileira? O poder de compra do Ministério da Aeronáutica, que fez encomendas estratégicas viabilizando a Embraer, Avibras e uma sólida cadeia de fornecedores.</a:t>
            </a:r>
          </a:p>
          <a:p>
            <a:r>
              <a:t>E assim como em San Diego, constatou-se que quando os fundadores das empresas eram pessoas físicas, na quase totalidade eram pesquisadores saídos dos próprios institutos."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cerca de 1 minuto e 45 segundos.</a:t>
            </a:r>
          </a:p>
          <a:p>
            <a:r>
              <a:t>FALA SUGERIDA (LILIAN VEIGA VINHAS):</a:t>
            </a:r>
          </a:p>
          <a:p>
            <a:r>
              <a:t>"A literatura sobre polos tecnológicos classifica essas aglomerações em três tipologias:</a:t>
            </a:r>
          </a:p>
          <a:p>
            <a:r>
              <a:t>Polo Tipo 1 (Polo Orgânico): aglomeração espontânea sem estrutura formal de orquestração de rede.</a:t>
            </a:r>
          </a:p>
          <a:p>
            <a:r>
              <a:t>Polo Tipo 2: existência de estrutura organizacional prévia formalizada entre academia, indústria e governo.</a:t>
            </a:r>
          </a:p>
          <a:p>
            <a:r>
              <a:t>Polo Tipo 3 (Parque Tecnológico): além da estrutura organizacional formal de governança, contém terrenos, prédios e laboratórios compartilhados dedicados a abrigar indústrias e startups interagindo com centros de pesquisa.</a:t>
            </a:r>
          </a:p>
          <a:p>
            <a:r>
              <a:t>Podemos afirmar categoricamente que São José dos Campos nasceu como um Polo Tipo 1 nos anos 50 a 90. E o que acontecia na prática? Havia barreiras: as empresas tinham enorme dificuldade de acessar os laboratórios do CTA e do INPE, faltava fluxo de informações e apoio em gestão tecnológica.</a:t>
            </a:r>
          </a:p>
          <a:p>
            <a:r>
              <a:t>Com a fundação do PIT em 2009, SJC deu o salto para o Polo Tipo 3, assumindo a gestão formalizada por Organização Social — funcionando para a nossa região exatamente como a CONNECT funcionou para San Diego! E superando a dificuldade histórica de acesso a laboratórios."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cerca de 1 minuto e 45 segundos.</a:t>
            </a:r>
          </a:p>
          <a:p>
            <a:r>
              <a:t>FALA SUGERIDA (LILIAN VEIGA VINHAS):</a:t>
            </a:r>
          </a:p>
          <a:p>
            <a:r>
              <a:t>"Entrando na anatomia atual do PIT SJC, fundamentada no Relatório Anual 2025 e no estudo de Thiago Rubem (2018):</a:t>
            </a:r>
          </a:p>
          <a:p>
            <a:r>
              <a:t>O Parque foi instituído em 2009 e sua administração é realizada pela Associação Parque Tecnológico de São José dos Campos (APTSJC), uma Organização Social privada sem fins lucrativos credenciada no Sistema Paulista de Parques Tecnológicos (SPTec/SPAI).</a:t>
            </a:r>
          </a:p>
          <a:p>
            <a:r>
              <a:t>O conceito teórico central é o de spill-overs territoriais: a concentração espacial não é mero espaço físico, ela gera transbordamento de conhecimento tácito que não aconteceria à distância.</a:t>
            </a:r>
          </a:p>
          <a:p>
            <a:r>
              <a:t>Vejam a matriz pentagonal do Relatório Anual do PIT projetada na tela: a Tríplice Hélice central (APTSJC articulando Universidade, Governo e Empresas) coordena cinco eixos estratégicos: Defesa e Aeroespacial, TIC Vale, Agropolo, Saúde e Biotecnologia, e Mobilidade Urbana.</a:t>
            </a:r>
          </a:p>
          <a:p>
            <a:r>
              <a:t>E o grande avanço: o PIT resolveu o gargalo histórico dos laboratórios! Em 2025 foram 56 projetos prospectados, 22 executados e o ecossistema passou a contar com uma rede integrada de 57 laboratórios de instituições parceiras à disposição das empresas!"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cerca de 1 minuto e 45 segundos.</a:t>
            </a:r>
          </a:p>
          <a:p>
            <a:r>
              <a:t>FALA SUGERIDA (LILIAN VEIGA VINHAS):</a:t>
            </a:r>
          </a:p>
          <a:p>
            <a:r>
              <a:t>"Em recente entrevista publicada na Gazeta de São Paulo em maio de 2026, Jeferson Cheriegate, presidente do PIT, destacou que o Parque expandiu sua atuação para além da tecnologia pura: tornou-se articulador de cidades inteligentes, sustentabilidade, ESG e internacionalização.</a:t>
            </a:r>
          </a:p>
          <a:p>
            <a:r>
              <a:t>Olhem para o painel de logos de parceiros corporativos e governamentais que confiam no PIT: Gerdau, Nestlé, Finep, Sebrae, Thales, Novelis, Governos de SP, GO, PR e dezenas de prefeituras!</a:t>
            </a:r>
          </a:p>
          <a:p>
            <a:r>
              <a:t>Os APLs operam a pleno vapor: o Cluster Aeroespacial e Defesa brasileiro marcou presença em Dubai e Paris; o TIC Vale atingiu 137 empresas; o Agropolo cresceu mais de 21% com 90 empresas; a cadeia de saúde e biotecnologia realizou mais de 100 reuniões de negócios; e o hub de inovação Nexus acelerou 192 startups com 87 mentores seniores.</a:t>
            </a:r>
          </a:p>
          <a:p>
            <a:r>
              <a:t>Isso comprova a tese central: inovação requer instituições que gerem pertencimento, confiança e encontros presenciais contínuos."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cerca de 2 minutos.</a:t>
            </a:r>
          </a:p>
          <a:p>
            <a:r>
              <a:t>FALA SUGERIDA (LILIAN VEIGA VINHAS):</a:t>
            </a:r>
          </a:p>
          <a:p>
            <a:r>
              <a:t>"Para consolidar este bloco de benchmarking internacional, apresento nossa matriz comparativa detalhada em 6 dimensões estratégicas:</a:t>
            </a:r>
          </a:p>
          <a:p>
            <a:r>
              <a:t>1. Matriz Científica: San Diego ancorou-se em saúde e UCSD com demandas navais; SJC ancorou-se no planejamento de defesa aeroespacial do CTA/ITA/INPE.</a:t>
            </a:r>
          </a:p>
          <a:p>
            <a:r>
              <a:t>2. Governança: San Diego operou bottom-up com a ONG CONNECT; SJC evoluiu do polo orgânico (Tipo 1) ao orquestrado (Tipo 3) pelo PIT gerido por Organização Social.</a:t>
            </a:r>
          </a:p>
          <a:p>
            <a:r>
              <a:t>3. Território: Zoneamento urbano em 1970 em San Diego; Adensamento territorial no PIT gerando transbordamentos tácitos (spill-overs) em SJC.</a:t>
            </a:r>
          </a:p>
          <a:p>
            <a:r>
              <a:t>4. Genealogia: Startups pioneiras Hybritech e Qualcomm em San Diego; Embraer, Avibras e spin-offs de pesquisadores em SJC.</a:t>
            </a:r>
          </a:p>
          <a:p>
            <a:r>
              <a:t>5. Financiamento: Venture Capital e IPOs nos EUA; Encomendas estatais históricas de defesa e atual modelo híbrido de investimentos no PIT.</a:t>
            </a:r>
          </a:p>
          <a:p>
            <a:r>
              <a:t>6. Diversificação: San Diego lidera em Biotecnologia e Telecom; SJC expandiu o aeroespacial para TIC Vale, Agropolo, Saúde, Mobilidade e Cidades Inteligentes.</a:t>
            </a:r>
          </a:p>
          <a:p>
            <a:r>
              <a:t>Conclusão Geral: Não existem fórmulas prontas. Parques tecnológicos não são empreendimentos imobiliários, mas ecossistemas relacionais de confiança humana mútua!"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[APRESENTADOR: Ao projetar este slide, anuncie ao microfone: 'Atenção turma, fase liberada no celular! Estação Pavilhão Aeroespacial &amp; San Diego aberta! Duas baterias para o final!'] O ranking ao vivo no telão está emocionante!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integração com a UNIFESP é estruturante. O PPG-PIT fornece a densidade científica e a visão metodológica que transformam problemas industriais complexos em projetos de pesquisa aplicada protegidos por patentes e segredos tecnológicos.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Neste momento, apresentamos a nossa atividade empírica de campo no Parque Tecnológico de São José dos Campos, conduzida pelo Renato Paschoal. O objetivo é confrontar os conceitos teóricos de governança e orquestração com a prática real de quem atua na gestão do ecossistema.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Estruturamos a análise de governança do PIT SJC em quatro eixos fundamentais: a antecipação contratual de propriedade intelectual, a construção do capital relacional e confiança mútua, a aplicação do Marco Legal de CTI e a formação de pesquisadores com visão de negócios no PPG-PIT.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Bloco 6, Shen et al. trazem o contraponto crítico necessário a qualquer análise acadêmica séria. Quais são as limitações da teoria? A dificuldade em traçar as fronteiras geográficas do ecossistema e o desafio estatístico de comprovar causalidade de impacto.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Autores críticos alertam para o 'Lado Sombrio': pequenas startups que ficam aprisionadas em relações predatórias de dependência (lock-in) com grandes clientes únicos, vazamento de propriedade intelectual em hackathons e o perigo do 'teatro da inovação'.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[APRESENTADOR: Ao projetar este slide, anuncie ao microfone: 'Atenção turma, fase liberada no celular! É a última estação: Living Lab Net-Zero &amp; Fronteiras! As últimas 3 perguntas que definirão o grande campeão!'] Caprichem na velocidade e precisão!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Chegamos ao fim da dinâmica do Kahoot RPG! Todos os 6 desafios foram concluídos. Estamos projetando agora o pódio preliminar com as 3 maiores pontuações da turma. Parabéns a todos pelo raciocínio rápido e dedicação estratégica!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Projetamos agora a classificação geral completa de toda a sala e o diagnóstico cienciométrico com a análise estatística dos distratores mais votados em cada bloco temático.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síntese teórica e gerencial do seminário, consolidamos as 5 Leis Fundamentais dos Ecossistemas de Inovação que devem nortear qualquer política pública ou estratégia corporativa.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Fechamos com as provocações estratégicas para o nosso ecossistema local: como o PPG-PIT da UNIFESP e o Parque Tecnológico podem liderar o próximo ciclo de maturidade do ecossistema do Vale do Paraíba.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🚀 ABERTURA OFICIAL • SEMINÁRIO GETI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Ecossistemas de Inovação: </a:t>
            </a:r>
            <a:r>
              <a:rPr sz="2200" b="1">
                <a:solidFill>
                  <a:srgbClr val="3FD0E6"/>
                </a:solidFill>
                <a:latin typeface="Outfit"/>
              </a:rPr>
              <a:t>Teoria, Orquestração e a Prática no PIT SJC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""Nenhuma organização inova sozinha: o valor não está nas partes, mas na sinergia entre elas.""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🚀 ABERTURA OFICIAL • SEMINÁRIO GETI 2026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Ecossistemas de Inovação: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Teoria, Orquestração e a Prática no PIT SJC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💡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"Nenhuma organização inova sozinha: o valor não está nas partes, mas na sinergia entre elas."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📚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Fundamentos Teóricos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Artigos seminais e recentes da vanguarda da literatura internacional: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Josué Jofre (4ª) / Fernando Barreto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Seminário 5: Ecossistemas de Inovação • GETI 2026 / PPG-PIT UNIFESP Campus Parque Tecnológico SJC.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🧭 CRONOGRAMA &amp;AMP; ROTEIRO • 120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Estrutura e </a:t>
            </a:r>
            <a:r>
              <a:rPr sz="2200" b="1">
                <a:solidFill>
                  <a:srgbClr val="3FD0E6"/>
                </a:solidFill>
                <a:latin typeface="Outfit"/>
              </a:rPr>
              <a:t>Divisão dos Blocos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""Da teoria da coevolução biológica à prática orquestrada em São José dos Campos.""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🧭 CRONOGRAMA &amp;amp; ROTEIRO • 120 MINUTOS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Estrutura 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Divisão dos Blocos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⚡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"Da teoria da coevolução biológica à prática orquestrada em São José dos Campos."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01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Fundamentos Teóricos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James Moore (1993), coevolução e a cienciometria de Shen et al. (2025/2026).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Nathalia Neves (4ª) / Fernando Barreto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Estrutura Baseada em Moore (1993), Etzkowitz (2000), Machado et al. (2025), Furr &amp; Shipilov (2018), Majava &amp; Rinkinen (2026) e Shen et al. (2026).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📍 O LABORATÓRIO VIVO • SÃO JOSÉ DOS CAMPOS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Por que o  é Nosso Estudo de Caso? </a:t>
            </a:r>
            <a:r>
              <a:rPr sz="2200" b="1">
                <a:solidFill>
                  <a:srgbClr val="3FD0E6"/>
                </a:solidFill>
                <a:latin typeface="Outfit"/>
              </a:rPr>
              <a:t>PIT SJC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""Não estudamos ecossistemas em abstrato: vivenciamos a orquestração no nosso campus.""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📍 O LABORATÓRIO VIVO • SÃO JOSÉ DOS CAMPOS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Por que o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PIT SJC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é Nosso Estudo de Caso?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🎯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"Não estudamos ecossistemas em abstrato: vivenciamos a orquestração no nosso campus."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🏛️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Pioneirismo Estadual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Josué Jofre (4ª) / Marciele Toledo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APTSJC (2025). Relatório Anual de Atividades; Prefeitura Municipal de São José dos Campos (Lei nº 7.058/2006).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📚 BLOCO 1 • FUNDAMENTOS TEÓRICOS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A Origem do Conceito: </a:t>
            </a:r>
            <a:r>
              <a:rPr sz="2200" b="1">
                <a:solidFill>
                  <a:srgbClr val="3FD0E6"/>
                </a:solidFill>
                <a:latin typeface="Outfit"/>
              </a:rPr>
              <a:t>Tansley (1935) &amp;amp; Moore (1993)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""Na biologia e nos negócios: espécies e empresas que coevoluem sobrevivem juntas ou perecem isoladas.""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📚 BLOCO 1 • FUNDAMENTOS TEÓRICOS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 Origem do Conceito: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Tansley (1935) &amp;amp; Moore (1993)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🌱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"Na biologia e nos negócios: espécies e empresas que coevoluem sobrevivem juntas ou perecem isoladas."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🧬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O Salto da Metáfora Biológica para os Negócios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Nathalia Neves (4ª) / Fernando Barreto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Tansley, A. G. (1935). The use and abuse of vegetational concepts and terms. Ecology; Moore, J. F. (1993). Predators and Prey. HBR.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📊 BLOCO 1 • ANÁLISE BIBLIOMÉTRICA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Evolução Bibliométrica: </a:t>
            </a:r>
            <a:r>
              <a:rPr sz="2200" b="1">
                <a:solidFill>
                  <a:srgbClr val="3FD0E6"/>
                </a:solidFill>
                <a:latin typeface="Outfit"/>
              </a:rPr>
              <a:t>Shen et al. (2025/2026)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""De 1993 a 2026: a literatura migrou do fascínio conceitual para a governança empírica rigorosa.""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📊 BLOCO 1 • ANÁLISE BIBLIOMÉTRICA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Evolução Bibliométrica: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Shen et al. (2025/2026)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📈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"De 1993 a 2026: a literatura migrou do fascínio conceitual para a governança empírica rigorosa."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1️⃣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1993 - 2005: Gênese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Fase exploratória, metáforas biológicas seminais e definição de limites conceituais preliminares.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Nathalia Neves (4ª) / Fernando Barreto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Shen, W., et al. (2025/2026). Mapping innovation ecosystem research published from 2006 to 2023: A scientometric review. Technology in Society, 78, 102641.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💡 BLOCO 1 • 4 CONCEITOS ESSENCIAIS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Como Diferenciar: </a:t>
            </a:r>
            <a:r>
              <a:rPr sz="2200" b="1">
                <a:solidFill>
                  <a:srgbClr val="3FD0E6"/>
                </a:solidFill>
                <a:latin typeface="Outfit"/>
              </a:rPr>
              <a:t>Cluster, Sistema e Ecossistema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""Estar no mesmo CEP geográfico não configura um ecossistema: sem interdependência, há apenas vizinhança.""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💡 BLOCO 1 • 4 CONCEITOS ESSENCIAIS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Como Diferenciar: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Cluster, Sistema e Ecossistema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💡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"Estar no mesmo CEP geográfico não configura um ecossistema: sem interdependência, há apenas vizinhança."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🏭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Cluster (Porter)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Concentração geográfica de firmas do mesmo setor que buscam ganho de escala produtiva e redução de custos logísticos.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Nathalia Neves (4ª) / Fernando Barreto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Porter, M. (1998); Freeman, C. (1987); Lundvall, B.-Å. (1992); Moore, J. F. (1993); Adner, R. (2006).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🎮 MOMENTO KAHOOT RPG • FASE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Desafio da Fase 1: </a:t>
            </a:r>
            <a:r>
              <a:rPr sz="2200" b="1">
                <a:solidFill>
                  <a:srgbClr val="3FD0E6"/>
                </a:solidFill>
                <a:latin typeface="Outfit"/>
              </a:rPr>
              <a:t>Bloco Acadêmico UNIFESP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""O link do jogo está no chat: acesse, ande até a Fase 1 e responda o mais rápido possível!""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🎮 MOMENTO KAHOOT RPG • FASE 1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Desafio da Fase 1: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Bloco Acadêmico UNIFESP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📱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"O link do jogo está no chat: acesse, ande até a Fase 1 e responda o mais rápido possível!"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🎓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Bloco Acadêmico UNIFESP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FASE 1 DE 6 • Bloco Acadêmico UNIFESP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Nathalia Neves (4ª) / Fernando Barreto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Avaliação Formativa Síncrona • Banco de Questões GETI 2026 baseado em Moore (1993) e Shen et al. (2026).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🧬 BLOCO 2 • ANATOMIA DO ECOSSISTEMA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Anatomia do Ecossistema: </a:t>
            </a:r>
            <a:r>
              <a:rPr sz="2200" b="1">
                <a:solidFill>
                  <a:srgbClr val="3FD0E6"/>
                </a:solidFill>
                <a:latin typeface="Outfit"/>
              </a:rPr>
              <a:t>Heterogeneidade &amp;amp; Simbiose de Atores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""Na saúde, na aviação ou na TI: quando profissionais de áreas diferentes cooperam, o impossível acontece.""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🧬 BLOCO 2 • ANATOMIA DO ECOSSISTEMA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Anatomia do Ecossistema: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Heterogeneidade &amp;amp; Simbiose de Atores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🔬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"Na saúde, na aviação ou na TI: quando profissionais de áreas diferentes cooperam, o impossível acontece."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🏛️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Academia &amp;amp; ICTs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CIÊNCIA &amp;amp; TALENTOS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Veridiany Braga (4ª) / Fábio Lippi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Machado, C. G., Faccin, K., &amp; Bitencourt, C. C. (2025); Granovetter, M. (1973). The Strength of Weak Ties. AJS.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🌀 BLOCO 2 • MODELOS DE HÉLICES DA INOVAÇÃO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Da Tríplice à Quíntupla Hélice: </a:t>
            </a:r>
            <a:r>
              <a:rPr sz="2200" b="1">
                <a:solidFill>
                  <a:srgbClr val="3FD0E6"/>
                </a:solidFill>
                <a:latin typeface="Outfit"/>
              </a:rPr>
              <a:t>Sociedade &amp;amp; Sustentabilidade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""A evolução do ecossistema: da Tríplice Hélice à Quíntupla Hélice, conectando sociedade, inclusão social e sustentabilidade ambiental (Net-Zero).""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🌀 BLOCO 2 • MODELOS DE HÉLICES DA INOVAÇÃO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Da Tríplice à Quíntupla Hélice: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Sociedade &amp;amp; Sustentabilidade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🌍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"A evolução do ecossistema: da Tríplice Hélice à Quíntupla Hélice, conectando sociedade, inclusão social e sustentabilidade ambiental (Net-Zero)."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🎓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1ª Hélice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Academia &amp;amp; ICTs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Veridiany Braga (4ª) / Fábio Lippi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Etzkowitz, H. &amp; Leydesdorff, L. (2000). The dynamics of innovation; Carayannis, E. G. &amp; Campbell, D. F. (2009, 2012). Quintuple Innovation Helix.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🕸️ BLOCO 2 • INTERDEPENDÊNCIA E DINÂMICA DE REDE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Interdependência &amp;amp; Riscos: </a:t>
            </a:r>
            <a:r>
              <a:rPr sz="2200" b="1">
                <a:solidFill>
                  <a:srgbClr val="3FD0E6"/>
                </a:solidFill>
                <a:latin typeface="Outfit"/>
              </a:rPr>
              <a:t>Cadeia Linear vs. Rede Viva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""Enquanto a cadeia de suprimentos é contratual e linear, o ecossistema opera por coopetição e interdependência de riscos.""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🕸️ BLOCO 2 • INTERDEPENDÊNCIA E DINÂMICA DE REDE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Interdependência &amp;amp; Riscos: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Cadeia Linear vs. Rede Viva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🔗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"Enquanto a cadeia de suprimentos é contratual e linear, o ecossistema opera por coopetição e interdependência de riscos."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⛓️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Cadeia de Suprimentos Tradicional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LINEAR &amp;amp; CONTRATUAL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Veridiany Braga (4ª) / Fábio Lippi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Adner, R. (2006; 2012). Match Your Innovation Strategy to Your Innovation Ecosystem / The Wide Lens. Portfolio/Penguin.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🎮 MOMENTO KAHOOT RPG • 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Desafio da Fase 2: </a:t>
            </a:r>
            <a:r>
              <a:rPr sz="2200" b="1">
                <a:solidFill>
                  <a:srgbClr val="3FD0E6"/>
                </a:solidFill>
                <a:latin typeface="Outfit"/>
              </a:rPr>
              <a:t>Praça Central das Hélices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""Acesse o jogo no smartphone, caminhe até a estação no mapa e responda às 3 perguntas!""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🎮 MOMENTO KAHOOT RPG • FASE 2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Desafio da Fase 2: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Praça Central das Hélices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📱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"Acesse o jogo no smartphone, caminhe até a estação no mapa e responda às 3 perguntas!"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🌀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Praça Central das Hélices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FASE 2 DE 6 • Praça Central das Hélices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Veridiany Braga (4ª) / Fábio Lippi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Avaliação Formativa Síncrona • Banco de Questões GETI 2026 baseado em Adner (2006) e Carayannis &amp; Campbell (2012).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SEMINÁRIO 5 • ECOSSISTEMAS DE INOVAÇÃO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Como coordenar atores independentes, e quais mecanismos e competências permitem a orquestração do ecossistema? </a:t>
            </a:r>
          </a:p>
        </p:txBody>
      </p:sp>
      <p:pic>
        <p:nvPicPr>
          <p:cNvPr id="4" name="Picture 3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9418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Jéssica David (4ª) / Fernando Barreto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Machado, C. G., Faccin, K., &amp; Bitencourt, C. C. (2025). Orchestration competence in innovation ecosystems. Innovation &amp; Management Review.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SEMINÁRIO 5 • ECOSSISTEMAS DE INOVAÇÃO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Coordenar sem autoridade hierárquica </a:t>
            </a:r>
          </a:p>
        </p:txBody>
      </p:sp>
      <p:pic>
        <p:nvPicPr>
          <p:cNvPr id="4" name="Picture 3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44849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Jéssica David (4ª) / Fernando Barreto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Dhanaraj, C. &amp; Parkhe, A. (2006). Orchestrating innovation networks. AMR; Machado, Faccin &amp; Bitencourt (2025).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SEMINÁRIO 5 • ECOSSISTEMAS DE INOVAÇÃO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Das 3 às 8 dimensões de orquestração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02 · AS DIMENSÕES DA ORQUESTRAÇÃO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Das 3 às 8 dimensões de orquestração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2006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3 dimensões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Dhanaraj &amp;amp; Parkhe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2011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6 dimensões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Hurmelinna-Laukkanen et 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Jéssica David (4ª) / Fernando Barreto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Hurmelinna-Laukkanen et al. (2011); Da Silva &amp; Bitencourt (2019); Mignoni et al. (2021); Machado et al. (2025).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SEMINÁRIO 5 • ECOSSISTEMAS DE INOVAÇÃO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Dar direção, reunir e manter os atores </a:t>
            </a:r>
          </a:p>
        </p:txBody>
      </p:sp>
      <p:pic>
        <p:nvPicPr>
          <p:cNvPr id="4" name="Picture 3" descr="image-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9418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Jéssica David (4ª) / Fernando Barreto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Machado, C. G., Faccin, K., &amp; Bitencourt, C. C. (2025). Tabela 1 e 2: Mecanismos de Direção, Mobilização e Estabilização.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SEMINÁRIO 5 • ECOSSISTEMAS DE INOVAÇÃO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Fazer conhecimento, ação e mensagem circularem </a:t>
            </a:r>
          </a:p>
        </p:txBody>
      </p:sp>
      <p:pic>
        <p:nvPicPr>
          <p:cNvPr id="4" name="Picture 3" descr="image-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9418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Jéssica David (4ª) / Fernando Barreto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Machado, C. G., Faccin, K., &amp; Bitencourt, C. C. (2025). Mecanismos de Compartilhamento, Coordenação e Gestão da Comunicação.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SEMINÁRIO 5 • ECOSSISTEMAS DE INOVAÇÃO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Competência de orquestração: CHA em ação </a:t>
            </a:r>
          </a:p>
        </p:txBody>
      </p:sp>
      <p:pic>
        <p:nvPicPr>
          <p:cNvPr id="4" name="Picture 3" descr="image-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80728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Jéssica David (4ª) / Fernando Barreto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Dutra, J. S. (2004). Gestão por competências; Fleury &amp; Fleury (2001); Machado, Faccin &amp; Bitencourt (2025).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SEMINÁRIO 5 • ECOSSISTEMAS DE INOVAÇÃO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Como coordenar atores independentes? </a:t>
            </a:r>
          </a:p>
        </p:txBody>
      </p:sp>
      <p:pic>
        <p:nvPicPr>
          <p:cNvPr id="4" name="Picture 3" descr="image-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9418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Jéssica David (4ª) / Fernando Barreto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Machado, C. G., Faccin, K., &amp; Bitencourt, C. C. (2025). Framework Integrado de Competências de Orquestração.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🎮 MOMENTO KAHOOT RPG • FASE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Desafio da Fase 3: </a:t>
            </a:r>
            <a:r>
              <a:rPr sz="2200" b="1">
                <a:solidFill>
                  <a:srgbClr val="3FD0E6"/>
                </a:solidFill>
                <a:latin typeface="Outfit"/>
              </a:rPr>
              <a:t>Centro de Governança do PIT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""O link do jogo está no chat: acesse, ande até a Fase 2 e responda o mais rápido possível!""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🎮 MOMENTO KAHOOT RPG • FASE 3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Desafio da Fase 3: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Centro de Governança do PIT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📱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"O link do jogo está no chat: acesse, ande até a Fase 2 e responda o mais rápido possível!"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🏛️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Centro de Governança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FASE 3 DE 6 • Centro de Governança do PIT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Jéssica David (4ª) / Fernando Barreto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Avaliação Formativa Síncrona • Banco de Questões GETI 2026 baseado em Machado, Faccin &amp; Bitencourt (2025).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🏗️ BLOCO 4 • CONSTRUÇÃO DE ECOSSISTEMAS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Como Construir Ecossistemas: </a:t>
            </a:r>
            <a:r>
              <a:rPr sz="2200" b="1">
                <a:solidFill>
                  <a:srgbClr val="3FD0E6"/>
                </a:solidFill>
                <a:latin typeface="Outfit"/>
              </a:rPr>
              <a:t>Furr &amp;amp; Shipilov (MIT)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""Não tente impor uma visão imperial fechada: ecossistemas robustos nascem de experimentos adaptativos.""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🏗️ BLOCO 4 • CONSTRUÇÃO DE ECOSSISTEMAS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Como Construir Ecossistemas: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Furr &amp;amp; Shipilov (MIT)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🌱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"Não tente impor uma visão imperial fechada: ecossistemas robustos nascem de experimentos adaptativos."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❌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A Armadilha da 'Ilusão de Controle'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Josué Jofre (4ª) / Marciele Toledo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Furr, N. &amp; Shipilov, A. (2018). Building the Right Ecosystem for Innovation. MIT Sloan Management Review, 59(4), 59-64.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🚀 BLOCO 4 • NEXUS HUB DE STARTUPS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O Nexus como Catalisador: </a:t>
            </a:r>
            <a:r>
              <a:rPr sz="2200" b="1">
                <a:solidFill>
                  <a:srgbClr val="3FD0E6"/>
                </a:solidFill>
                <a:latin typeface="Outfit"/>
              </a:rPr>
              <a:t>Acelerando Deep Techs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""Deep techs exigem laboratórios reais, tempo de maturação e paciência de capital inteligente.""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🚀 BLOCO 4 • NEXUS HUB DE STARTUPS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O Nexus como Catalisador: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Acelerando Deep Techs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💡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"Deep techs exigem laboratórios reais, tempo de maturação e paciência de capital inteligente."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🧪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Nexus Lab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Laboratórios de prototipagem rápida, eletrônica, ensaios mecânicos e acesso compartilhado à infraestrutura UNIFESP.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Josué Jofre (4ª) / Marciele Toledo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APTSJC (2025). Relatório Anual de Atividades 2025; Nexus Hub de Inovação do Parque Tecnológico de São José dos Campos.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🧭 BLOCO 4 • LIDERANÇA ADAPTATIVA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Liderança sem Autoridade Hierárquica: </a:t>
            </a:r>
            <a:r>
              <a:rPr sz="2200" b="1">
                <a:solidFill>
                  <a:srgbClr val="3FD0E6"/>
                </a:solidFill>
                <a:latin typeface="Outfit"/>
              </a:rPr>
              <a:t>O Desafio do Orquestrador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""Em um ecossistema, ninguém manda em ninguém: lidera quem constrói o melhor consenso.""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🧭 BLOCO 4 • LIDERANÇA ADAPTATIVA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Liderança sem Autoridade Hierárquica: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O Desafio do Orquestrador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⚡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"Em um ecossistema, ninguém manda em ninguém: lidera quem constrói o melhor consenso."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👑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Gestão Tradicional vs Orquestração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Josué Jofre (4ª) / Marciele Toledo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Heifetz, R., Grashow, A., &amp; Linsky, M. (2009). The Practice of Adaptive Leadership. Harvard Business Press; Furr &amp; Shipilov (2018).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🎮 MOMENTO KAHOOT RPG • FASE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Desafio da Fase 4: </a:t>
            </a:r>
            <a:r>
              <a:rPr sz="2200" b="1">
                <a:solidFill>
                  <a:srgbClr val="3FD0E6"/>
                </a:solidFill>
                <a:latin typeface="Outfit"/>
              </a:rPr>
              <a:t>Nexus Hub de Startups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""O link do jogo está no chat: acesse, ande até a Fase 3 e responda o mais rápido possível!""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🎮 MOMENTO KAHOOT RPG • FASE 4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Desafio da Fase 4: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Nexus Hub de Startups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📱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"O link do jogo está no chat: acesse, ande até a Fase 3 e responda o mais rápido possível!"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🚀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Nexus Hub de Startups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FASE 4 DE 6 • Nexus Hub de Startups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Josué Jofre (4ª) / Marciele Toledo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Avaliação Formativa Síncrona • Banco de Questões GETI 2026 baseado em Furr &amp; Shipilov (2018).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🌍 BLOCO 5 • BENCHMARKING INTERNACIONAL (1/9)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San Diego no Radar Global: </a:t>
            </a:r>
            <a:r>
              <a:rPr sz="2200" b="1">
                <a:solidFill>
                  <a:srgbClr val="3FD0E6"/>
                </a:solidFill>
                <a:latin typeface="Outfit"/>
              </a:rPr>
              <a:t>14º Maior Polo de Inovação do Mundo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""San Diego é o 14º maior polo mundial de inovação (7º por intensidade populacional): 26.713 pedidos de patente PCT liderados pela Qualcomm e 19.862 artigos pela UCSD.""</a:t>
            </a:r>
          </a:p>
        </p:txBody>
      </p:sp>
      <p:pic>
        <p:nvPicPr>
          <p:cNvPr id="5" name="Picture 4" descr="slid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48840"/>
            <a:ext cx="5303520" cy="2819163"/>
          </a:xfrm>
          <a:prstGeom prst="rect">
            <a:avLst/>
          </a:prstGeom>
        </p:spPr>
      </p:pic>
      <p:pic>
        <p:nvPicPr>
          <p:cNvPr id="6" name="Picture 5" descr="slide_1_img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48840"/>
            <a:ext cx="5212080" cy="41040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Lilian Veiga (4ª) / Fábio Lippi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WIPO (2025). Global Innovation Index 2025: S&amp;T Clusters Ranking (San Diego, 14th); Majava &amp; Rinkinen (2026).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🧬 BLOCO 5 • CONCEITO &amp; GÊNESE (2/9)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O que é um Ecossistema? </a:t>
            </a:r>
            <a:r>
              <a:rPr sz="2200" b="1">
                <a:solidFill>
                  <a:srgbClr val="3FD0E6"/>
                </a:solidFill>
                <a:latin typeface="Outfit"/>
              </a:rPr>
              <a:t>Os 6 Pontos-Chave de San Diego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""É conjunto dinâmico e em evolução de atores, instituições, atividades e relações complementares que impulsionam o desempenho inovador."</a:t>
            </a:r>
            <a:br/>
            <a:r>
              <a:t>          </a:t>
            </a:r>
            <a:br/>
            <a:r>
              <a:t>            — Jukka Majava &amp; Satu Rinkinen (2024/2026) • Twenty years, twenty studies: what can we learn from San Diego’s innovation ecosystem? (Tech. Analysis &amp; Strategic Management, 38:1)"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FD0E6"/>
                </a:solidFill>
              </a:defRPr>
            </a:pPr>
            <a:r>
              <a:t>Os 6 Pontos-Chave de San Diego (Majava &amp; Rinkinen, 2024/2026):</a:t>
            </a:r>
          </a:p>
          <a:p>
            <a:r>
              <a:rPr b="1" sz="1200">
                <a:solidFill>
                  <a:srgbClr val="FFFFFF"/>
                </a:solidFill>
              </a:rPr>
              <a:t>• 1º Ponto: Universidade com Pesquisa de Ponta: </a:t>
            </a:r>
            <a:r>
              <a:rPr sz="1100">
                <a:solidFill>
                  <a:srgbClr val="94A3B8"/>
                </a:solidFill>
              </a:rPr>
              <a:t>Fundação da UCSD nos anos 60 com foco em biologia e ciências, atraindo VCs e multinacionais.</a:t>
            </a:r>
          </a:p>
          <a:p>
            <a:r>
              <a:rPr b="1" sz="1200">
                <a:solidFill>
                  <a:srgbClr val="FFFFFF"/>
                </a:solidFill>
              </a:rPr>
              <a:t>• 2º Ponto: Antecedentes Históricos &amp; Vocação: </a:t>
            </a:r>
            <a:r>
              <a:rPr sz="1100">
                <a:solidFill>
                  <a:srgbClr val="94A3B8"/>
                </a:solidFill>
              </a:rPr>
              <a:t>Investimento prévio em hospitais e clínicas; isolamento geográfico que impediu indústrias pesadas.</a:t>
            </a:r>
          </a:p>
          <a:p>
            <a:r>
              <a:rPr b="1" sz="1200">
                <a:solidFill>
                  <a:srgbClr val="FFFFFF"/>
                </a:solidFill>
              </a:rPr>
              <a:t>• 3º Ponto: Decisões Políticas para Favorecer: </a:t>
            </a:r>
            <a:r>
              <a:rPr sz="1100">
                <a:solidFill>
                  <a:srgbClr val="94A3B8"/>
                </a:solidFill>
              </a:rPr>
              <a:t>Zoneamento urbano nos anos 70 garantindo proximidade física entre UCSD, institutos e empresas.</a:t>
            </a:r>
          </a:p>
          <a:p>
            <a:r>
              <a:rPr b="1" sz="1200">
                <a:solidFill>
                  <a:srgbClr val="FFFFFF"/>
                </a:solidFill>
              </a:rPr>
              <a:t>• 4º Ponto: Contingências que Geram Ações: </a:t>
            </a:r>
            <a:r>
              <a:rPr sz="1100">
                <a:solidFill>
                  <a:srgbClr val="94A3B8"/>
                </a:solidFill>
              </a:rPr>
              <a:t>Crise na indústria militar pós-Guerra Fria elevou desemprego, forçando reconversão em biotec e telecom.</a:t>
            </a:r>
          </a:p>
          <a:p>
            <a:r>
              <a:rPr b="1" sz="1200">
                <a:solidFill>
                  <a:srgbClr val="FFFFFF"/>
                </a:solidFill>
              </a:rPr>
              <a:t>• 5º Ponto: Instituição Mediadora (Orquestrador): </a:t>
            </a:r>
            <a:r>
              <a:rPr sz="1100">
                <a:solidFill>
                  <a:srgbClr val="94A3B8"/>
                </a:solidFill>
              </a:rPr>
              <a:t>Criação da CONNECT (1985) na UCSD: aceleradora Springboard, mentoria e laços de confiança.</a:t>
            </a:r>
          </a:p>
          <a:p>
            <a:r>
              <a:rPr b="1" sz="1200">
                <a:solidFill>
                  <a:srgbClr val="FFFFFF"/>
                </a:solidFill>
              </a:rPr>
              <a:t>• 6º Ponto: Proximidade Geográfica dos Atores: </a:t>
            </a:r>
            <a:r>
              <a:rPr sz="1100">
                <a:solidFill>
                  <a:srgbClr val="94A3B8"/>
                </a:solidFill>
              </a:rPr>
              <a:t>Distâncias curtas que facilitaram encontros de corredor, compartilhamento de conhecimento tácito.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Lilian Veiga (4ª) / Fábio Lippi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Majava, J. &amp; Rinkinen, S. (2024/2026). Twenty years, twenty studies: what can we learn from San Diego’s innovation ecosystem? Technology Analysis &amp; Strategic Management, 38(1), 49-64.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🌉 BLOCO 5 • O ORQUESTRADOR REGIONAL (3/9)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CONNECT: A Engenharia da Confiança </a:t>
            </a:r>
            <a:r>
              <a:rPr sz="2200" b="1">
                <a:solidFill>
                  <a:srgbClr val="3FD0E6"/>
                </a:solidFill>
                <a:latin typeface="Outfit"/>
              </a:rPr>
              <a:t>A Ponte entre Ciência e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""Criada de baixo para cima (Bottom-Up) na UCSD em resposta à crise militar, a CONNECT reduziu a assimetria entre as 'ideias' dos cientistas e as 'regras' dos negócios.""</a:t>
            </a:r>
          </a:p>
        </p:txBody>
      </p:sp>
      <p:pic>
        <p:nvPicPr>
          <p:cNvPr id="5" name="Picture 4" descr="slide_3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48840"/>
            <a:ext cx="9418320" cy="52567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Lilian Veiga (4ª) / Fábio Lippi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Majava, J. &amp; Rinkinen, S. (2024/2026); Walshok, M. L. &amp; Shragge, A. (2014). Invention and Reinvention: The Evolution of San Diego's Innovation Economy.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🎯 BLOCO 5 • DIAGNÓSTICO METODOLÓGICO (4/9)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Análise PEST: O Radar de Sucesso </a:t>
            </a:r>
            <a:r>
              <a:rPr sz="2200" b="1">
                <a:solidFill>
                  <a:srgbClr val="3FD0E6"/>
                </a:solidFill>
                <a:latin typeface="Outfit"/>
              </a:rPr>
              <a:t>As Forças que Impulsionaram San Diego</a:t>
            </a:r>
          </a:p>
        </p:txBody>
      </p:sp>
      <p:pic>
        <p:nvPicPr>
          <p:cNvPr id="4" name="Picture 3" descr="slide_4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52567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Lilian Veiga (4ª) / Fábio Lippi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Majava, J. &amp; Rinkinen, S. (2024/2026). PEST Analysis of the San Diego Innovation Ecosystem.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🇧🇷 BLOCO 5 • SÃO JOSÉ DOS CAMPOS: RAÍZES HISTÓRICAS (5/9)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São José dos Campos: A Gênese de uma Vocação </a:t>
            </a:r>
            <a:r>
              <a:rPr sz="2200" b="1">
                <a:solidFill>
                  <a:srgbClr val="3FD0E6"/>
                </a:solidFill>
                <a:latin typeface="Outfit"/>
              </a:rPr>
              <a:t>Planejamento de Estado &amp; Instituições-Âncora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""Na ausência de capital de risco privado no Brasil dos anos 50/60, o poder de compra estatal do Ministério da Aeronáutica atuou como indutor, viabilizando a Embraer e fornecedores locais.""</a:t>
            </a:r>
          </a:p>
        </p:txBody>
      </p:sp>
      <p:pic>
        <p:nvPicPr>
          <p:cNvPr id="5" name="Picture 4" descr="slide_5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48840"/>
            <a:ext cx="5486400" cy="30621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21488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FD0E6"/>
                </a:solidFill>
              </a:defRPr>
            </a:pPr>
            <a:r>
              <a:t>Fatores Estruturantes de São José dos Campos:</a:t>
            </a:r>
          </a:p>
          <a:p>
            <a:r>
              <a:rPr b="1" sz="1200">
                <a:solidFill>
                  <a:srgbClr val="10B981"/>
                </a:solidFill>
              </a:rPr>
              <a:t>
▸ Fatores Atrativos Originais (Anos 50): </a:t>
            </a:r>
            <a:r>
              <a:rPr sz="1100">
                <a:solidFill>
                  <a:srgbClr val="94A3B8"/>
                </a:solidFill>
              </a:rPr>
              <a:t>Localização no Eixo Rio-SP (Via Dutra), energia elétrica abundante, recursos hídricos e relevo plano.</a:t>
            </a:r>
          </a:p>
          <a:p>
            <a:r>
              <a:rPr b="1" sz="1200">
                <a:solidFill>
                  <a:srgbClr val="10B981"/>
                </a:solidFill>
              </a:rPr>
              <a:t>
▸ Instituições-Âncora Estratégicas: </a:t>
            </a:r>
            <a:r>
              <a:rPr sz="1100">
                <a:solidFill>
                  <a:srgbClr val="94A3B8"/>
                </a:solidFill>
              </a:rPr>
              <a:t>CTA e ITA criados nos anos 50 baseados no MIT; INPE criado em 1961 formando elite em P&amp;D aeroespacial e defesa.</a:t>
            </a:r>
          </a:p>
          <a:p>
            <a:r>
              <a:rPr b="1" sz="1200">
                <a:solidFill>
                  <a:srgbClr val="10B981"/>
                </a:solidFill>
              </a:rPr>
              <a:t>
▸ O Poder de Compra Estatal: </a:t>
            </a:r>
            <a:r>
              <a:rPr sz="1100">
                <a:solidFill>
                  <a:srgbClr val="94A3B8"/>
                </a:solidFill>
              </a:rPr>
              <a:t>Na ausência de Venture Capital, as encomendas do Ministério da Aeronáutica viabilizaram a Embraer, Avibras e fornecedores nacionais.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Lilian Veiga (4ª) / Fábio Lippi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Rubem, T. C. (2018). Políticas de inovação, parques tecnológicos e a importância do território. Anais Unicamp; Silva, O. (1998). A Decolagem de um Sonho.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🔄 BLOCO 5 • EVOLUÇÃO ESTRUTURAL (6/9)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A Evolução Tipológica: De Orgânico à Orquestração </a:t>
            </a:r>
            <a:r>
              <a:rPr sz="2200" b="1">
                <a:solidFill>
                  <a:srgbClr val="3FD0E6"/>
                </a:solidFill>
                <a:latin typeface="Outfit"/>
              </a:rPr>
              <a:t>Da Proximidade Física à Gestão Formal do PIT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""Da dificuldade histórica de acesso da indústria aos laboratórios de P&amp;D para a gestão orquestrada de inovação de 25 milhões de m².""</a:t>
            </a:r>
          </a:p>
        </p:txBody>
      </p:sp>
      <p:pic>
        <p:nvPicPr>
          <p:cNvPr id="5" name="Picture 4" descr="slide_6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48840"/>
            <a:ext cx="9418320" cy="52567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Lilian Veiga (4ª) / Fábio Lippi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Rubem, T. C. (2018); Spolidoro, R. (1997). Tipologia de polos tecnológicos; APTSJC (2025).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🏛️ BLOCO 5 • ANATOMIA DO PIT SJC (7/9)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O PIT SJC: Governança e Território </a:t>
            </a:r>
            <a:r>
              <a:rPr sz="2200" b="1">
                <a:solidFill>
                  <a:srgbClr val="3FD0E6"/>
                </a:solidFill>
                <a:latin typeface="Outfit"/>
              </a:rPr>
              <a:t>Relatório Anual 2025 &amp; Políticas de Inovação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""Spill-overs territoriais: em áreas de grande aglomeração, a proximidade física catalisa o transbordamento espontâneo de conhecimento tácito e sinergia." — Thiago Chiquetto Rubem (2018)"</a:t>
            </a:r>
          </a:p>
        </p:txBody>
      </p:sp>
      <p:pic>
        <p:nvPicPr>
          <p:cNvPr id="5" name="Picture 4" descr="slide_7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48840"/>
            <a:ext cx="5029200" cy="43046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21488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FD0E6"/>
                </a:solidFill>
              </a:defRPr>
            </a:pPr>
            <a:r>
              <a:t>Governança e Modelo de Operação do PIT SJC:</a:t>
            </a:r>
          </a:p>
          <a:p>
            <a:r>
              <a:rPr b="1" sz="1200">
                <a:solidFill>
                  <a:srgbClr val="10B981"/>
                </a:solidFill>
              </a:rPr>
              <a:t>
▸ Gestão por Organização Social: </a:t>
            </a:r>
            <a:r>
              <a:rPr sz="1100">
                <a:solidFill>
                  <a:srgbClr val="94A3B8"/>
                </a:solidFill>
              </a:rPr>
              <a:t>Criado em 2009 pela Prefeitura de SJC; gerido pela APTSJC (OS privada sem fins lucrativos credenciada no SPTec/SPAI).</a:t>
            </a:r>
          </a:p>
          <a:p>
            <a:r>
              <a:rPr b="1" sz="1200">
                <a:solidFill>
                  <a:srgbClr val="10B981"/>
                </a:solidFill>
              </a:rPr>
              <a:t>
▸ Superação do Gargalo de P&amp;D: </a:t>
            </a:r>
            <a:r>
              <a:rPr sz="1100">
                <a:solidFill>
                  <a:srgbClr val="94A3B8"/>
                </a:solidFill>
              </a:rPr>
              <a:t>56 projetos prospectados, 22 executados em 2025; acesso ampliado a 57 laboratórios parceiros multiusuários.</a:t>
            </a:r>
          </a:p>
          <a:p>
            <a:r>
              <a:rPr b="1" sz="1200">
                <a:solidFill>
                  <a:srgbClr val="10B981"/>
                </a:solidFill>
              </a:rPr>
              <a:t>
▸ Os 5 Eixos da Matriz Pentagonal: </a:t>
            </a:r>
            <a:r>
              <a:rPr sz="1100">
                <a:solidFill>
                  <a:srgbClr val="94A3B8"/>
                </a:solidFill>
              </a:rPr>
              <a:t>Defesa e Aeroespacial, TIC, Agronegócio, Saúde/Biotecnologia e Mobilidade Urbana articulando a Tríplice Hélice central.</a:t>
            </a:r>
          </a:p>
          <a:p>
            <a:r>
              <a:rPr b="1" sz="1200">
                <a:solidFill>
                  <a:srgbClr val="10B981"/>
                </a:solidFill>
              </a:rPr>
              <a:t>
▸ Spill-overs Territoriais (Thiago Rubem, 2018): </a:t>
            </a:r>
            <a:r>
              <a:rPr sz="1100">
                <a:solidFill>
                  <a:srgbClr val="94A3B8"/>
                </a:solidFill>
              </a:rPr>
              <a:t>A aglomeração física catalisa transbordamento espontâneo de conhecimento tácito e sinergia.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Lilian Veiga (4ª) / Fábio Lippi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APTSJC (2025). Relatório Anual de Atividades; Rubem, T. C. (2018) sobre spill-overs territoriais no PIT SJC.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🤝 BLOCO 5 • CONEXÕES &amp; MERCADO (8/9)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O PIT SJC em 2026: Consolidação &amp; Parcerias </a:t>
            </a:r>
            <a:r>
              <a:rPr sz="2200" b="1">
                <a:solidFill>
                  <a:srgbClr val="3FD0E6"/>
                </a:solidFill>
                <a:latin typeface="Outfit"/>
              </a:rPr>
              <a:t>Construção de Redes de Confiança e Diversificação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""Parque Tecnológico não é mero empreendimento imobiliário: é um ambiente catalisador de confiança, pontes relacionais e encontros humanos." — Jeferson Cheriegate (Gazeta de SP, 2026)"</a:t>
            </a:r>
          </a:p>
        </p:txBody>
      </p:sp>
      <p:pic>
        <p:nvPicPr>
          <p:cNvPr id="5" name="Picture 4" descr="slide_8_im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48840"/>
            <a:ext cx="5669280" cy="29638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2148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FD0E6"/>
                </a:solidFill>
              </a:defRPr>
            </a:pPr>
            <a:r>
              <a:t>Expansão dos APLs &amp; Nexus Hub em 2026:</a:t>
            </a:r>
          </a:p>
          <a:p>
            <a:r>
              <a:rPr b="1" sz="1200">
                <a:solidFill>
                  <a:srgbClr val="10B981"/>
                </a:solidFill>
              </a:rPr>
              <a:t>
▸ Cluster Aeroespacial &amp; Defesa: </a:t>
            </a:r>
            <a:r>
              <a:rPr sz="1100">
                <a:solidFill>
                  <a:srgbClr val="94A3B8"/>
                </a:solidFill>
              </a:rPr>
              <a:t>Presença internacional em Dubai e Paris; conexões com +10 países e +120h de capacitação.</a:t>
            </a:r>
          </a:p>
          <a:p>
            <a:r>
              <a:rPr b="1" sz="1200">
                <a:solidFill>
                  <a:srgbClr val="10B981"/>
                </a:solidFill>
              </a:rPr>
              <a:t>
▸ TIC Vale (137 Empresas): </a:t>
            </a:r>
            <a:r>
              <a:rPr sz="1100">
                <a:solidFill>
                  <a:srgbClr val="94A3B8"/>
                </a:solidFill>
              </a:rPr>
              <a:t>Arranjo produtivo em Indústria 4.0, Inteligência Artificial, Big Data e Smart Cities.</a:t>
            </a:r>
          </a:p>
          <a:p>
            <a:r>
              <a:rPr b="1" sz="1200">
                <a:solidFill>
                  <a:srgbClr val="10B981"/>
                </a:solidFill>
              </a:rPr>
              <a:t>
▸ Agropolo (+21,6%) &amp; Saúde/Mobilidade: </a:t>
            </a:r>
            <a:r>
              <a:rPr sz="1100">
                <a:solidFill>
                  <a:srgbClr val="94A3B8"/>
                </a:solidFill>
              </a:rPr>
              <a:t>90 empresas no Agropolo com foco em ESG; cadeia de saúde com +100 rodadas de negócios.</a:t>
            </a:r>
          </a:p>
          <a:p>
            <a:r>
              <a:rPr b="1" sz="1200">
                <a:solidFill>
                  <a:srgbClr val="10B981"/>
                </a:solidFill>
              </a:rPr>
              <a:t>
▸ Nexus Hub (192 Startups): </a:t>
            </a:r>
            <a:r>
              <a:rPr sz="1100">
                <a:solidFill>
                  <a:srgbClr val="94A3B8"/>
                </a:solidFill>
              </a:rPr>
              <a:t>Comunidade com 23 entidades estratégicas e 87 mentores seniores no Nexus Circle.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Lilian Veiga (4ª) / Fábio Lippi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Cheriegate, J. (2026). Parque Tecnológico fortalece São José como polo nacional de inovação. Gazeta de SP; APTSJC (2025).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⚖️ BLOCO 5 • MATRIZ DE BENCHMARKING (9/9)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Síntese Comparativa: </a:t>
            </a:r>
            <a:r>
              <a:rPr sz="2200" b="1">
                <a:solidFill>
                  <a:srgbClr val="3FD0E6"/>
                </a:solidFill>
                <a:latin typeface="Outfit"/>
              </a:rPr>
              <a:t>San Diego (EUA) vs São José dos Campos (Brasil)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43400"/>
                <a:gridCol w="4343400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FD0E6"/>
                          </a:solidFill>
                        </a:defRPr>
                      </a:pPr>
                      <a:r>
                        <a:t>Dimensão</a:t>
                      </a:r>
                    </a:p>
                  </a:txBody>
                  <a:tcPr>
                    <a:solidFill>
                      <a:srgbClr val="0A13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FD0E6"/>
                          </a:solidFill>
                        </a:defRPr>
                      </a:pPr>
                      <a:r>
                        <a:t>San Diego (EUA)</a:t>
                      </a:r>
                    </a:p>
                  </a:txBody>
                  <a:tcPr>
                    <a:solidFill>
                      <a:srgbClr val="0A13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FD0E6"/>
                          </a:solidFill>
                        </a:defRPr>
                      </a:pPr>
                      <a:r>
                        <a:t>São José dos Campos (Brasil)</a:t>
                      </a:r>
                    </a:p>
                  </a:txBody>
                  <a:tcPr>
                    <a:solidFill>
                      <a:srgbClr val="0A132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Matriz Científica e Origem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Pesquisa em saúde (Scripps, Salk), UCSD e demandas da Marinha/Aeronáutica civil.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Planejamento estatal/militar em defesa e aeroespacial (CTA, ITA, INPE).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Evolução da Governança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Modelo Bottom-Up: Liderança privada e universidade criaram a ONG CONNECT em 1985.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De Orgânico (Tipo 1) a Orquestrado (Tipo 3): De polo sem gestão formal (anos 90) ao PIT em 2009 (Organização Social).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Papel do Território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Zoneamento urbano em 1970 garantiu proximidade física entre universidade, institutos e startups.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Aglomeração territorial no PIT gerando sinergia e transbordamento de conhecimento tácito (spill-overs).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Atores-Âncora e Genealogia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Startups pioneiras em ciências (Hybritech em biotec e Linkabit/Qualcomm em sem fio).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Embraer, Avibras e vasta rede de fornecedores e spin-offs de pesquisadores do CTA/INPE.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Modelo de Financiamento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Investimento federal em pesquisa (NIH, SBIR/STTR), Capital de Risco (Venture Capital) e IPOs.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Histórico de encomendas estatais de defesa e transição atual para modelo híbrido (investimentos públicos e privados no PIT).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Diversificação Setorial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Liderança mundial em Biotecnologia, Ciências da Vida e Telecomunicações Sem Fio.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Matriz aeroespacial/defesa expandida para TIC Vale, Agropolo, Saúde, Mobilidade e Smart Cities.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Lilian Veiga (4ª) / Fábio Lippi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Majava &amp; Rinkinen (2026); Rubem (2018); APTSJC (2025); Matriz Comparativa Oficial Seminário 5 GETI 2026.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🎮 MOMENTO KAHOOT RPG • FASE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Desafio da Fase 5: </a:t>
            </a:r>
            <a:r>
              <a:rPr sz="2200" b="1">
                <a:solidFill>
                  <a:srgbClr val="3FD0E6"/>
                </a:solidFill>
                <a:latin typeface="Outfit"/>
              </a:rPr>
              <a:t>Pavilhão Aeroespacial &amp;amp; San Diego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""Acesse o jogo no smartphone, caminhe até a estação no mapa e responda às 3 perguntas!""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🎮 MOMENTO KAHOOT RPG • FASE 5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Desafio da Fase 5: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Pavilhão Aeroespacial &amp;amp; San Diego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📱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"Acesse o jogo no smartphone, caminhe até a estação no mapa e responda às 3 perguntas!"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✈️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Pavilhão Aeroespacial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FASE 5 DE 6 • Pavilhão Aeroespacial &amp;amp; San Diego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Lilian Veiga (4ª) / Fábio Lippi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Avaliação Formativa Síncrona • Banco de Questões GETI 2026 elaborado por Lilian Veiga Vinhas baseado em Majava &amp; Rinkinen (2026).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🎓 O ELO UNIVERSITÁRIO • PPG-PIT UNIFESP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A Integração UNIFESP &amp;amp; PIT: </a:t>
            </a:r>
            <a:r>
              <a:rPr sz="2200" b="1">
                <a:solidFill>
                  <a:srgbClr val="3FD0E6"/>
                </a:solidFill>
                <a:latin typeface="Outfit"/>
              </a:rPr>
              <a:t>Co-criação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""O PPG-PIT não forma apenas teóricos: forma orquestradores capazes de dialogar com a indústria.""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🎓 O ELO UNIVERSITÁRIO • PPG-PIT UNIFESP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 Integração UNIFESP &amp;amp; PIT: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Co-criação na Prática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🔬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"O PPG-PIT não forma apenas teóricos: forma orquestradores capazes de dialogar com a indústria."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🧪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Laboratórios Abertos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Infraestrutura multiusuária do Campus Parque Tecnológico com acesso franqueado a pesquisadores e startups.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Josué Jofre (4ª) / Marciele Toledo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Projeto Pedagógico PPG-PIT (2026) • Programa de Pós-Graduação em Inovação Tecnológica, UNIFESP Campus Parque Tecnológico SJC.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🎙️ ESTUDO EMPÍRICO • ATIVIDADE DE CAMPO NO PIT SJC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Entrevista com a Liderança do Parque: </a:t>
            </a:r>
            <a:r>
              <a:rPr sz="2200" b="1">
                <a:solidFill>
                  <a:srgbClr val="3FD0E6"/>
                </a:solidFill>
                <a:latin typeface="Outfit"/>
              </a:rPr>
              <a:t>A Visão Prática do Orquestrador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""Investigando na prática os desafios reais de governança, conciliação de interesses e transferência tecnológica no PIT São José dos Campos.""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🎙️ ESTUDO EMPÍRICO • ATIVIDADE DE CAMPO NO PIT SJC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Entrevista com a Liderança do Parque: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A Visão Prática do Orquestrador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🎯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"Investigando na prática os desafios reais de governança, conciliação de interesses e transferência tecnológica no PIT São José dos Campos."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📋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Eixos Investigados no Roteiro de Entrevista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Renato Paschoal (4ª e 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Paschoal, R. (2026). Atividade de Campo: Entrevista Técnica com a Coordenadoria de Inovação do Parque Tecnológico de São José dos Campos.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📋 SÍNTESE PRÁTICA • EIXOS DE ANÁLISE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4 Eixos de Governança Analisados na </a:t>
            </a:r>
            <a:r>
              <a:rPr sz="2200" b="1">
                <a:solidFill>
                  <a:srgbClr val="3FD0E6"/>
                </a:solidFill>
                <a:latin typeface="Outfit"/>
              </a:rPr>
              <a:t>Prática do PIT SJC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""A ponte universidade-empresa exige alinhamento prévio de governança, confiança relacional e domínio do marco regulatório.""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📋 SÍNTESE PRÁTICA • EIXOS DE ANÁLISE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4 Eixos de Governança Analisados na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Prática do PIT SJC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⚖️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"A ponte universidade-empresa exige alinhamento prévio de governança, confiança relacional e domínio do marco regulatório."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📝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1. Contratos &amp;amp; PI Antecipados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Definição explícita de Propriedade Intelectual antes do início dos testes no laboratório.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Renato Paschoal (4ª e 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Paschoal, R. (2026). Síntese Empírica dos 4 Eixos de Governança no PIT SJC.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⚠️ BLOCO 6 • CRÍTICAS E LIMITAÇÕES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Pés no Chão (Shen et al.): </a:t>
            </a:r>
            <a:r>
              <a:rPr sz="2200" b="1">
                <a:solidFill>
                  <a:srgbClr val="3FD0E6"/>
                </a:solidFill>
                <a:latin typeface="Outfit"/>
              </a:rPr>
              <a:t>Evitando o "Teatro da Inovação"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""Onde começa e onde termina um ecossistema? A literatura sofre para traçar fronteiras estritas.""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⚠️ BLOCO 6 • CRÍTICAS E LIMITAÇÕES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Pés no Chão (Shen et al.):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Evitando o "Teatro da Inovação"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🔍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"Onde começa e onde termina um ecossistema? A literatura sofre para traçar fronteiras estritas."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🌐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Fronteiras Porosas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O PIT SJC é apenas a rodovia Presidente Dutra? Engloba o Vale do Paraíba? Ou conecta parceiros em Munique e Toulouse?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Renato Paschoal (4ª e 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Shen, W., et al. (2025/2026). Mapping innovation ecosystem research; Alvesson, M. &amp; Spicer, A. (2012). A Stupidity-Based Theory of Organizations. JMS.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🌑 BLOCO 6 • O LADO SOMBRIO DOS ECOSSISTEMAS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As Armadilhas da Rede: </a:t>
            </a:r>
            <a:r>
              <a:rPr sz="2200" b="1">
                <a:solidFill>
                  <a:srgbClr val="3FD0E6"/>
                </a:solidFill>
                <a:latin typeface="Outfit"/>
              </a:rPr>
              <a:t>Lock-in, Predação e Teatro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""Ecossistemas desregulados geram monopólios predatórios disfarçados de inovação aberta.""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🌑 BLOCO 6 • O LADO SOMBRIO DOS ECOSSISTEMAS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As Armadilhas da Rede: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Lock-in, Predação e Teatro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🚨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"Ecossistemas desregulados geram monopólios predatórios disfarçados de inovação aberta."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🪤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Lock-in Predatório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Startups que desenvolvem tecnologia customizada para uma única grande empresa âncora e ficam reféns de preços ditados.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Renato Paschoal (4ª e 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Thomas, L. &amp; Ritala, P. (2022). Ecosystem legitimacy emergence; Shen et al. (2025/2026).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🎮 MOMENTO KAHOOT RPG • FASE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Desafio da Fase 6: </a:t>
            </a:r>
            <a:r>
              <a:rPr sz="2200" b="1">
                <a:solidFill>
                  <a:srgbClr val="3FD0E6"/>
                </a:solidFill>
                <a:latin typeface="Outfit"/>
              </a:rPr>
              <a:t>Living Lab Net-Zero &amp;amp; Fronteiras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""O link do jogo está no chat: acesse, ande até a Fase 6 e responda o mais rápido possível!""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🎮 MOMENTO KAHOOT RPG • FASE 6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Desafio da Fase 6: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Living Lab Net-Zero &amp;amp; Fronteiras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📱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"O link do jogo está no chat: acesse, ande até a Fase 6 e responda o mais rápido possível!"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🌱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Living Lab Net-Zero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FASE 6 DE 6 • Living Lab Net-Zero &amp;amp; Fronteiras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Renato Paschoal (4ª e 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Avaliação Formativa Síncrona • Banco de Questões GETI 2026 baseado em Shen et al. (2025/2026).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🏆 FECHAMENTO DO KAHOOT RPG • TODAS AS FASES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Consolidação das 18 Questões: </a:t>
            </a:r>
            <a:r>
              <a:rPr sz="2200" b="1">
                <a:solidFill>
                  <a:srgbClr val="3FD0E6"/>
                </a:solidFill>
                <a:latin typeface="Outfit"/>
              </a:rPr>
              <a:t>O Pódio Provisório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""18 decisões estratégicas: quem articulou a melhor orquestração de valor no campus?""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🏆 FECHAMENTO DO KAHOOT RPG • TODAS AS FASES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Consolidação das 18 Questões: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O Pódio Provisório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🎮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"18 decisões estratégicas: quem articulou a melhor orquestração de valor no campus?"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🥈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2º Lugar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Aguardando...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Jéssica David (4ª) / Fernando Barreto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Avaliação Cienciométrica e Diagnóstico Formativo de Desempenho • Equipe GETI 2026 / PPG-PIT UNIFESP.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📊 ANÁLISE DE DADOS &amp;AMP; PÓDIO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Classificação Geral &amp;amp; </a:t>
            </a:r>
            <a:r>
              <a:rPr sz="2200" b="1">
                <a:solidFill>
                  <a:srgbClr val="3FD0E6"/>
                </a:solidFill>
                <a:latin typeface="Outfit"/>
              </a:rPr>
              <a:t>Diagnóstico Cienciométrico dos Erros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""Errar na simulação é aprendizado; orquestrar na prática exige precisão científica.""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📊 ANÁLISE DE DADOS &amp;amp; PÓDIO FINAL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Classificação Geral &amp;amp;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Diagnóstico Cienciométrico dos Erros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🎉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"Errar na simulação é aprendizado; orquestrar na prática exige precisão científica."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🏆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Top 6 da Turma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Jéssica David (4ª) / Fernando Barreto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Consolidação dos Dados do Kahoot RPG e Mapeamento de Lacunas Conceituais • PPG-PIT UNIFESP.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⚖️ SÍNTESE FINAL • AS 5 LEIS DOS ECOSSISTEMAS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As 5 Leis Fundamentais dos </a:t>
            </a:r>
            <a:r>
              <a:rPr sz="2200" b="1">
                <a:solidFill>
                  <a:srgbClr val="3FD0E6"/>
                </a:solidFill>
                <a:latin typeface="Outfit"/>
              </a:rPr>
              <a:t>Ecossistemas de Inovação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""Princípios invariantes validados pela literatura de 1993 a 2026 e pelo case PIT SJC.""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⚖️ SÍNTESE FINAL • AS 5 LEIS DOS ECOSSISTEMAS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As 5 Leis Fundamentais dos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Ecossistemas de Inovação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📜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"Princípios invariantes validados pela literatura de 1993 a 2026 e pelo case PIT SJC."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1ª Lei: Valor Relacional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O valor não está na soma contábil dos atores, mas na densidade das conexões de confiança estabelecidas.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2ª Lei: Orquestração Antientrópica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Renato Paschoal (4ª) / Fernando Barreto (5ª)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Síntese Integradora: Moore (1993), Adner (2006), Furr &amp; Shipilov (2018), Majava &amp; Rinkinen (2026), Machado et al. (2025).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D0E6"/>
                </a:solidFill>
                <a:latin typeface="JetBrains Mono"/>
              </a:defRPr>
            </a:pPr>
            <a:r>
              <a:t>💬 DEBATE ABERTO • CONSIDERAÇÕES DA BANCA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EEF5"/>
                </a:solidFill>
                <a:latin typeface="Outfit"/>
              </a:rPr>
              <a:t>Provocações Estratégicas para o </a:t>
            </a:r>
            <a:r>
              <a:rPr sz="2200" b="1">
                <a:solidFill>
                  <a:srgbClr val="3FD0E6"/>
                </a:solidFill>
                <a:latin typeface="Outfit"/>
              </a:rPr>
              <a:t>PPG-PIT e PIT SJC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""Como nós, como futuros mestres e doutores, aceleraremos a inovação brasileira?""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💬 DEBATE ABERTO • CONSIDERAÇÕES DA BANCA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Provocações Estratégicas para o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PPG-PIT e PIT SJC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❓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"Como nós, como futuros mestres e doutores, aceleraremos a inovação brasileira?"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🎓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Universidade &amp;amp; Mercado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Como reduzir as barreiras de contratação de PD&amp;amp;I entre o campus UNIFESP e as mais de 300 empresas do PIT?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FD0E6"/>
                </a:solidFill>
                <a:latin typeface="JetBrains Mono"/>
              </a:rPr>
              <a:t>🎤 Grupo Inteiro (4ª e 5ª)   |   </a:t>
            </a:r>
            <a:r>
              <a:rPr sz="850">
                <a:solidFill>
                  <a:srgbClr val="94A3B8"/>
                </a:solidFill>
                <a:latin typeface="JetBrains Mono"/>
              </a:rPr>
              <a:t>📚 Fonte / Ref:  Mesa de Discussão Acadêmica e Avaliação da Banca Examinadora • Profª Drª Iraci de Souza João &amp; Prof. Dr. Antônio Yukio Ueta.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